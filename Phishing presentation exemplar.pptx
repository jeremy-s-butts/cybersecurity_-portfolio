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Proxima Nova"/>
      <p:regular r:id="rId10"/>
      <p:bold r:id="rId11"/>
      <p:italic r:id="rId12"/>
      <p:boldItalic r:id="rId13"/>
    </p:embeddedFon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bold.fntdata"/><Relationship Id="rId10" Type="http://schemas.openxmlformats.org/officeDocument/2006/relationships/font" Target="fonts/ProximaNova-regular.fntdata"/><Relationship Id="rId13" Type="http://schemas.openxmlformats.org/officeDocument/2006/relationships/font" Target="fonts/ProximaNova-boldItalic.fntdata"/><Relationship Id="rId12" Type="http://schemas.openxmlformats.org/officeDocument/2006/relationships/font" Target="fonts/ProximaNov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8bc63cfa31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8bc63cfa31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adfec423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adfec423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8bc63d02e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8bc63d02e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Cymbal Bank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INC-10056: Phishing</a:t>
            </a:r>
            <a:endParaRPr/>
          </a:p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Last week, we responded to a high-</a:t>
            </a:r>
            <a:r>
              <a:rPr lang="en"/>
              <a:t>severity </a:t>
            </a:r>
            <a:r>
              <a:rPr lang="en"/>
              <a:t>phishing alert. Our security team was able to quickly respond to the alert and rectify the malicious activity before any  harm could be done to our </a:t>
            </a:r>
            <a:r>
              <a:rPr lang="en"/>
              <a:t>infrastructure</a:t>
            </a:r>
            <a:r>
              <a:rPr lang="en"/>
              <a:t>.  </a:t>
            </a:r>
            <a:endParaRPr/>
          </a:p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this presentation, I will discuss the details of the incident, explain how we addressed it, and offer suggestions to improve Cymbal Bank's security posture moving forward, using this incident as a learning opportunity.</a:t>
            </a:r>
            <a:endParaRPr/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83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   </a:t>
            </a:r>
            <a:r>
              <a:rPr lang="en"/>
              <a:t>October 12, 2023</a:t>
            </a:r>
            <a:endParaRPr/>
          </a:p>
        </p:txBody>
      </p:sp>
      <p:grpSp>
        <p:nvGrpSpPr>
          <p:cNvPr id="81" name="Google Shape;81;p16"/>
          <p:cNvGrpSpPr/>
          <p:nvPr/>
        </p:nvGrpSpPr>
        <p:grpSpPr>
          <a:xfrm>
            <a:off x="-44874" y="2156775"/>
            <a:ext cx="2253555" cy="1125879"/>
            <a:chOff x="183726" y="2461575"/>
            <a:chExt cx="2253555" cy="1125879"/>
          </a:xfrm>
        </p:grpSpPr>
        <p:sp>
          <p:nvSpPr>
            <p:cNvPr id="82" name="Google Shape;82;p16"/>
            <p:cNvSpPr/>
            <p:nvPr/>
          </p:nvSpPr>
          <p:spPr>
            <a:xfrm>
              <a:off x="902781" y="3080265"/>
              <a:ext cx="15345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6"/>
            <p:cNvSpPr txBox="1"/>
            <p:nvPr/>
          </p:nvSpPr>
          <p:spPr>
            <a:xfrm>
              <a:off x="466173" y="3216054"/>
              <a:ext cx="8712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11:45 a.m.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84" name="Google Shape;84;p16"/>
            <p:cNvGrpSpPr/>
            <p:nvPr/>
          </p:nvGrpSpPr>
          <p:grpSpPr>
            <a:xfrm>
              <a:off x="851208" y="2800855"/>
              <a:ext cx="92400" cy="411825"/>
              <a:chOff x="845575" y="2563700"/>
              <a:chExt cx="92400" cy="411825"/>
            </a:xfrm>
          </p:grpSpPr>
          <p:cxnSp>
            <p:nvCxnSpPr>
              <p:cNvPr id="85" name="Google Shape;85;p16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6" name="Google Shape;86;p16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7" name="Google Shape;87;p16"/>
            <p:cNvSpPr txBox="1"/>
            <p:nvPr/>
          </p:nvSpPr>
          <p:spPr>
            <a:xfrm>
              <a:off x="183726" y="2461575"/>
              <a:ext cx="19845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           </a:t>
              </a:r>
              <a:r>
                <a:rPr b="1" lang="en" sz="100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Phishing email received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8" name="Google Shape;88;p16"/>
          <p:cNvGrpSpPr/>
          <p:nvPr/>
        </p:nvGrpSpPr>
        <p:grpSpPr>
          <a:xfrm>
            <a:off x="1429377" y="1801849"/>
            <a:ext cx="2313803" cy="2348412"/>
            <a:chOff x="1657977" y="2106649"/>
            <a:chExt cx="2313803" cy="2348412"/>
          </a:xfrm>
        </p:grpSpPr>
        <p:sp>
          <p:nvSpPr>
            <p:cNvPr id="89" name="Google Shape;89;p16"/>
            <p:cNvSpPr/>
            <p:nvPr/>
          </p:nvSpPr>
          <p:spPr>
            <a:xfrm>
              <a:off x="2437281" y="3080265"/>
              <a:ext cx="15345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6"/>
            <p:cNvSpPr txBox="1"/>
            <p:nvPr/>
          </p:nvSpPr>
          <p:spPr>
            <a:xfrm>
              <a:off x="1657977" y="3511261"/>
              <a:ext cx="17817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User clicks phishing link</a:t>
              </a:r>
              <a:endParaRPr b="1" sz="10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" name="Google Shape;91;p16"/>
            <p:cNvSpPr txBox="1"/>
            <p:nvPr/>
          </p:nvSpPr>
          <p:spPr>
            <a:xfrm>
              <a:off x="2068480" y="2106649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11:46 </a:t>
              </a: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a.m.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92" name="Google Shape;92;p16"/>
            <p:cNvGrpSpPr/>
            <p:nvPr/>
          </p:nvGrpSpPr>
          <p:grpSpPr>
            <a:xfrm rot="10800000">
              <a:off x="2395183" y="3080258"/>
              <a:ext cx="92400" cy="411825"/>
              <a:chOff x="2070100" y="2563700"/>
              <a:chExt cx="92400" cy="411825"/>
            </a:xfrm>
          </p:grpSpPr>
          <p:cxnSp>
            <p:nvCxnSpPr>
              <p:cNvPr id="93" name="Google Shape;93;p16"/>
              <p:cNvCxnSpPr/>
              <p:nvPr/>
            </p:nvCxnSpPr>
            <p:spPr>
              <a:xfrm>
                <a:off x="2116300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4" name="Google Shape;94;p16"/>
              <p:cNvSpPr/>
              <p:nvPr/>
            </p:nvSpPr>
            <p:spPr>
              <a:xfrm>
                <a:off x="2070100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5" name="Google Shape;95;p16"/>
          <p:cNvGrpSpPr/>
          <p:nvPr/>
        </p:nvGrpSpPr>
        <p:grpSpPr>
          <a:xfrm>
            <a:off x="3118525" y="2005099"/>
            <a:ext cx="2159168" cy="1277537"/>
            <a:chOff x="3347110" y="2309906"/>
            <a:chExt cx="2159168" cy="1277537"/>
          </a:xfrm>
        </p:grpSpPr>
        <p:sp>
          <p:nvSpPr>
            <p:cNvPr id="96" name="Google Shape;96;p16"/>
            <p:cNvSpPr/>
            <p:nvPr/>
          </p:nvSpPr>
          <p:spPr>
            <a:xfrm>
              <a:off x="3971778" y="3080265"/>
              <a:ext cx="15345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7" name="Google Shape;97;p16"/>
            <p:cNvGrpSpPr/>
            <p:nvPr/>
          </p:nvGrpSpPr>
          <p:grpSpPr>
            <a:xfrm>
              <a:off x="3924544" y="2800855"/>
              <a:ext cx="92400" cy="411825"/>
              <a:chOff x="845575" y="2563700"/>
              <a:chExt cx="92400" cy="411825"/>
            </a:xfrm>
          </p:grpSpPr>
          <p:cxnSp>
            <p:nvCxnSpPr>
              <p:cNvPr id="98" name="Google Shape;98;p16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9" name="Google Shape;99;p16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0" name="Google Shape;100;p16"/>
            <p:cNvSpPr txBox="1"/>
            <p:nvPr/>
          </p:nvSpPr>
          <p:spPr>
            <a:xfrm>
              <a:off x="3642907" y="3216043"/>
              <a:ext cx="692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11:47 </a:t>
              </a: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a.m.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3347110" y="2309906"/>
              <a:ext cx="1781700" cy="8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User submits credentials to </a:t>
              </a:r>
              <a:br>
                <a:rPr b="1" lang="en" sz="100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1" lang="en" sz="100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phishing link</a:t>
              </a:r>
              <a:endParaRPr b="1" sz="1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4532248" y="2218187"/>
            <a:ext cx="2279928" cy="1913524"/>
            <a:chOff x="4760848" y="2522987"/>
            <a:chExt cx="2279928" cy="1913524"/>
          </a:xfrm>
        </p:grpSpPr>
        <p:sp>
          <p:nvSpPr>
            <p:cNvPr id="103" name="Google Shape;103;p16"/>
            <p:cNvSpPr/>
            <p:nvPr/>
          </p:nvSpPr>
          <p:spPr>
            <a:xfrm>
              <a:off x="5506276" y="3080265"/>
              <a:ext cx="15345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" name="Google Shape;104;p16"/>
            <p:cNvGrpSpPr/>
            <p:nvPr/>
          </p:nvGrpSpPr>
          <p:grpSpPr>
            <a:xfrm rot="10800000">
              <a:off x="5455515" y="3080258"/>
              <a:ext cx="92400" cy="411825"/>
              <a:chOff x="2070100" y="2563700"/>
              <a:chExt cx="92400" cy="411825"/>
            </a:xfrm>
          </p:grpSpPr>
          <p:cxnSp>
            <p:nvCxnSpPr>
              <p:cNvPr id="105" name="Google Shape;105;p16"/>
              <p:cNvCxnSpPr/>
              <p:nvPr/>
            </p:nvCxnSpPr>
            <p:spPr>
              <a:xfrm>
                <a:off x="2116300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06" name="Google Shape;106;p16"/>
              <p:cNvSpPr/>
              <p:nvPr/>
            </p:nvSpPr>
            <p:spPr>
              <a:xfrm>
                <a:off x="2070100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7" name="Google Shape;107;p16"/>
            <p:cNvSpPr txBox="1"/>
            <p:nvPr/>
          </p:nvSpPr>
          <p:spPr>
            <a:xfrm>
              <a:off x="5128814" y="2522987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11:48 </a:t>
              </a: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a.m.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" name="Google Shape;108;p16"/>
            <p:cNvSpPr txBox="1"/>
            <p:nvPr/>
          </p:nvSpPr>
          <p:spPr>
            <a:xfrm>
              <a:off x="4760848" y="3492711"/>
              <a:ext cx="17817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00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Unusual login detected</a:t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9" name="Google Shape;109;p16"/>
          <p:cNvGrpSpPr/>
          <p:nvPr/>
        </p:nvGrpSpPr>
        <p:grpSpPr>
          <a:xfrm>
            <a:off x="6187549" y="1943000"/>
            <a:ext cx="2730334" cy="1339643"/>
            <a:chOff x="6416149" y="2247800"/>
            <a:chExt cx="2730334" cy="1339643"/>
          </a:xfrm>
        </p:grpSpPr>
        <p:sp>
          <p:nvSpPr>
            <p:cNvPr id="110" name="Google Shape;110;p16"/>
            <p:cNvSpPr/>
            <p:nvPr/>
          </p:nvSpPr>
          <p:spPr>
            <a:xfrm>
              <a:off x="7040783" y="3080265"/>
              <a:ext cx="21057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1" name="Google Shape;111;p16"/>
            <p:cNvGrpSpPr/>
            <p:nvPr/>
          </p:nvGrpSpPr>
          <p:grpSpPr>
            <a:xfrm>
              <a:off x="6994658" y="2800855"/>
              <a:ext cx="92400" cy="411825"/>
              <a:chOff x="845575" y="2563700"/>
              <a:chExt cx="92400" cy="411825"/>
            </a:xfrm>
          </p:grpSpPr>
          <p:cxnSp>
            <p:nvCxnSpPr>
              <p:cNvPr id="112" name="Google Shape;112;p16"/>
              <p:cNvCxnSpPr/>
              <p:nvPr/>
            </p:nvCxnSpPr>
            <p:spPr>
              <a:xfrm>
                <a:off x="891775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3" name="Google Shape;113;p16"/>
              <p:cNvSpPr/>
              <p:nvPr/>
            </p:nvSpPr>
            <p:spPr>
              <a:xfrm>
                <a:off x="845575" y="2563700"/>
                <a:ext cx="92400" cy="92400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4" name="Google Shape;114;p16"/>
            <p:cNvSpPr txBox="1"/>
            <p:nvPr/>
          </p:nvSpPr>
          <p:spPr>
            <a:xfrm>
              <a:off x="6671021" y="3216043"/>
              <a:ext cx="7458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11:49 </a:t>
              </a:r>
              <a:r>
                <a:rPr b="1" lang="en" sz="1200">
                  <a:latin typeface="Roboto"/>
                  <a:ea typeface="Roboto"/>
                  <a:cs typeface="Roboto"/>
                  <a:sym typeface="Roboto"/>
                </a:rPr>
                <a:t>a.m.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6416149" y="2247800"/>
              <a:ext cx="1781700" cy="94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Suspicious activity identified on 4 applications</a:t>
              </a:r>
              <a:endParaRPr b="1" sz="10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t/>
              </a:r>
              <a:endParaRPr b="1" sz="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6" name="Google Shape;116;p16"/>
          <p:cNvSpPr txBox="1"/>
          <p:nvPr/>
        </p:nvSpPr>
        <p:spPr>
          <a:xfrm>
            <a:off x="311700" y="307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A timeline of events</a:t>
            </a:r>
            <a:endParaRPr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7" name="Google Shape;11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